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200" b="0">
                <a:solidFill>
                  <a:srgbClr val="FFFFFF"/>
                </a:solidFill>
                <a:latin typeface="SF Pro Display"/>
              </a:defRPr>
            </a:pPr>
            <a:r>
              <a:t>OpenClaw 功能拆解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200" b="0">
                <a:solidFill>
                  <a:srgbClr val="A1A1A6"/>
                </a:solidFill>
                <a:latin typeface="SF Pro Display"/>
              </a:defRPr>
            </a:pPr>
            <a:r>
              <a:t>从 Prompt 工程到 Agent 上下文管理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59436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6E6E73"/>
                </a:solidFill>
                <a:latin typeface="SF Pro Display"/>
              </a:defRPr>
            </a:pPr>
            <a:r>
              <a:t>Engineering Deep Dive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0">
                <a:solidFill>
                  <a:srgbClr val="FFFFFF"/>
                </a:solidFill>
                <a:latin typeface="SF Pro Display"/>
              </a:defRPr>
            </a:pPr>
            <a:r>
              <a:t>OpenClaw 解决什么问题？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0">
                <a:solidFill>
                  <a:srgbClr val="A1A1A6"/>
                </a:solidFill>
                <a:latin typeface="SF Pro Display"/>
              </a:defRPr>
            </a:pPr>
            <a:r>
              <a:t>在 LLM 无状态的前提下，搭建一条可控制的能力链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888888"/>
                </a:solidFill>
                <a:latin typeface="SF Pro Display"/>
              </a:defRPr>
            </a:pPr>
            <a:r>
              <a:t>LLM Stateless</a:t>
            </a:r>
            <a:br/>
            <a:r>
              <a:t>（断裂链条示意，请导入截图）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365760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F Pro Display"/>
              </a:defRPr>
            </a:pPr>
            <a:r>
              <a:t>OpenClaw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2743200"/>
            <a:ext cx="3657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C8C8C8"/>
                </a:solidFill>
                <a:latin typeface="SF Pro Display"/>
              </a:defRPr>
            </a:pPr>
            <a:r>
              <a:t>Inject    Assemble    Extend    Persist</a:t>
            </a:r>
            <a:br/>
            <a:r>
              <a:t>（四个齿轮示意，请导入截图）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5200" b="0">
                <a:solidFill>
                  <a:srgbClr val="FFFFFF"/>
                </a:solidFill>
                <a:latin typeface="SF Pro Display"/>
              </a:defRPr>
            </a:pPr>
            <a:r>
              <a:t>五层数据流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560320"/>
            <a:ext cx="2011680" cy="1463040"/>
          </a:xfrm>
          <a:prstGeom prst="roundRect">
            <a:avLst/>
          </a:prstGeom>
          <a:solidFill>
            <a:srgbClr val="0A0A0C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1. Gateway</a:t>
            </a:r>
          </a:p>
          <a:p>
            <a:pPr>
              <a:defRPr sz="1400">
                <a:solidFill>
                  <a:srgbClr val="888888"/>
                </a:solidFill>
                <a:latin typeface="SF Mono"/>
              </a:defRPr>
            </a:pPr>
            <a:r>
              <a:t>agentId + sessionKey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34640" y="2560320"/>
            <a:ext cx="2011680" cy="1463040"/>
          </a:xfrm>
          <a:prstGeom prst="roundRect">
            <a:avLst/>
          </a:prstGeom>
          <a:solidFill>
            <a:srgbClr val="0A0A0C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2. Session</a:t>
            </a:r>
          </a:p>
          <a:p>
            <a:pPr>
              <a:defRPr sz="1400">
                <a:solidFill>
                  <a:srgbClr val="888888"/>
                </a:solidFill>
                <a:latin typeface="SF Mono"/>
              </a:defRPr>
            </a:pPr>
            <a:r>
              <a:t>history.jsonl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2560320"/>
            <a:ext cx="2011680" cy="1463040"/>
          </a:xfrm>
          <a:prstGeom prst="roundRect">
            <a:avLst/>
          </a:prstGeom>
          <a:solidFill>
            <a:srgbClr val="0A0A0C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3. Bootstrap</a:t>
            </a:r>
          </a:p>
          <a:p>
            <a:pPr>
              <a:defRPr sz="1400">
                <a:solidFill>
                  <a:srgbClr val="888888"/>
                </a:solidFill>
                <a:latin typeface="SF Mono"/>
              </a:defRPr>
            </a:pPr>
            <a:r>
              <a:t>contextFiles[]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06640" y="2560320"/>
            <a:ext cx="2011680" cy="1463040"/>
          </a:xfrm>
          <a:prstGeom prst="roundRect">
            <a:avLst/>
          </a:prstGeom>
          <a:solidFill>
            <a:srgbClr val="0A0A0C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4. System Prompt</a:t>
            </a:r>
          </a:p>
          <a:p>
            <a:pPr>
              <a:defRPr sz="1400">
                <a:solidFill>
                  <a:srgbClr val="888888"/>
                </a:solidFill>
                <a:latin typeface="SF Mono"/>
              </a:defRPr>
            </a:pPr>
            <a:r>
              <a:t>prompt string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92640" y="2560320"/>
            <a:ext cx="2011680" cy="1463040"/>
          </a:xfrm>
          <a:prstGeom prst="roundRect">
            <a:avLst/>
          </a:prstGeom>
          <a:solidFill>
            <a:srgbClr val="0A0A0C"/>
          </a:solidFill>
          <a:ln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5. Runtime</a:t>
            </a:r>
          </a:p>
          <a:p>
            <a:pPr>
              <a:defRPr sz="1400">
                <a:solidFill>
                  <a:srgbClr val="888888"/>
                </a:solidFill>
                <a:latin typeface="SF Mono"/>
              </a:defRPr>
            </a:pPr>
            <a:r>
              <a:t>LLM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SF Pro Display"/>
              </a:defRPr>
            </a:pPr>
            <a:r>
              <a:t>Prompt 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1A1A6"/>
                </a:solidFill>
                <a:latin typeface="SF Pro Display"/>
              </a:defRPr>
            </a:pPr>
            <a:r>
              <a:t>System Prompt 由三部分拼成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C8C8FF"/>
                </a:solidFill>
                <a:latin typeface="SF Pro Display"/>
              </a:defRPr>
            </a:pPr>
            <a:r>
              <a:t>硬编码规则 ~35%</a:t>
            </a:r>
            <a:br/>
            <a:r>
              <a:t>Safety</a:t>
            </a:r>
            <a:br/>
            <a:r>
              <a:t>Execution Bias</a:t>
            </a:r>
            <a:br/>
            <a:r>
              <a:t>Cron</a:t>
            </a:r>
            <a:br/>
            <a:r>
              <a:t>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22860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C8AA"/>
                </a:solidFill>
                <a:latin typeface="SF Pro Display"/>
              </a:defRPr>
            </a:pPr>
            <a:r>
              <a:t>工作区上下文 ~40%</a:t>
            </a:r>
            <a:br/>
            <a:r>
              <a:t>AGENTS.md</a:t>
            </a:r>
            <a:br/>
            <a:r>
              <a:t>SOUL.md</a:t>
            </a:r>
            <a:br/>
            <a:r>
              <a:t>TOOLS.md</a:t>
            </a:r>
            <a:br/>
            <a:r>
              <a:t>MEMORY.md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2286000"/>
            <a:ext cx="3474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DCB4FF"/>
                </a:solidFill>
                <a:latin typeface="SF Pro Display"/>
              </a:defRPr>
            </a:pPr>
            <a:r>
              <a:t>动态环境 ~25%</a:t>
            </a:r>
            <a:br/>
            <a:r>
              <a:t>Workspace</a:t>
            </a:r>
            <a:br/>
            <a:r>
              <a:t>Runtime</a:t>
            </a:r>
            <a:br/>
            <a:r>
              <a:t>Sandbox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566928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SF Pro Display"/>
              </a:defRPr>
            </a:pPr>
            <a:r>
              <a:t>buildAgentSystemPrompt()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61264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F Pro Display"/>
              </a:defRPr>
            </a:pPr>
            <a:r>
              <a:t>LLM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400" b="0">
                <a:solidFill>
                  <a:srgbClr val="FFFFFF"/>
                </a:solidFill>
                <a:latin typeface="SF Pro Display"/>
              </a:defRPr>
            </a:pPr>
            <a:r>
              <a:t>注入与拼装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A1A1A6"/>
                </a:solidFill>
                <a:latin typeface="SF Pro Display"/>
              </a:defRPr>
            </a:pPr>
            <a:r>
              <a:t>通过状态标记控制注不注，通过三层结构控制怎么拼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5943600" cy="1097280"/>
          </a:xfrm>
          <a:prstGeom prst="rect">
            <a:avLst/>
          </a:prstGeom>
          <a:solidFill>
            <a:srgbClr val="141419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600">
                <a:solidFill>
                  <a:srgbClr val="C8C8D2"/>
                </a:solidFill>
                <a:latin typeface="SF Mono"/>
              </a:defRPr>
            </a:pPr>
            <a:r>
              <a:t>customType: openclaw:bootstrap-context:full -&gt; Skip</a:t>
            </a:r>
            <a:br/>
            <a:r>
              <a:t>type: message (assistant)</a:t>
            </a:r>
            <a:br/>
            <a:r>
              <a:t>type: compaction -&gt; Re-inject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8346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SF Pro Display"/>
              </a:defRPr>
            </a:pPr>
            <a:r>
              <a:t>hasCompletedBootstrapTurn()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3474720" cy="164592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硬编码规则</a:t>
            </a:r>
            <a:br/>
            <a:r>
              <a:t>Safety / Execution Bias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79" y="3657600"/>
            <a:ext cx="3474720" cy="1645920"/>
          </a:xfrm>
          <a:prstGeom prst="roundRect">
            <a:avLst/>
          </a:prstGeom>
          <a:solidFill>
            <a:srgbClr val="C2410C"/>
          </a:solidFill>
          <a:ln>
            <a:solidFill>
              <a:srgbClr val="C241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Project Context</a:t>
            </a:r>
            <a:br/>
            <a:r>
              <a:t>AGENTS.md / SOUL.md / MEMORY.md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19" y="3657600"/>
            <a:ext cx="3474720" cy="1645920"/>
          </a:xfrm>
          <a:prstGeom prst="roundRect">
            <a:avLst/>
          </a:prstGeom>
          <a:solidFill>
            <a:srgbClr val="7E22CE"/>
          </a:solidFill>
          <a:ln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动态环境</a:t>
            </a:r>
            <a:br/>
            <a:r>
              <a:t>Workspace / Runtime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0" y="429768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SF Pro Display"/>
              </a:defRPr>
            </a:pPr>
            <a:r>
              <a:t>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0">
                <a:solidFill>
                  <a:srgbClr val="FFFFFF"/>
                </a:solidFill>
                <a:latin typeface="SF Pro Display"/>
              </a:defRPr>
            </a:pPr>
            <a:r>
              <a:t>Skills — 可插拔的能力包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A1A1A6"/>
                </a:solidFill>
                <a:latin typeface="SF Pro Display"/>
              </a:defRPr>
            </a:pPr>
            <a:r>
              <a:t>匹配 skill -&gt; 必须 read SKILL.md -&gt; 严格执行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DDDDDD"/>
                </a:solidFill>
                <a:latin typeface="SF Pro Display"/>
              </a:defRPr>
            </a:pPr>
            <a:r>
              <a:t>docx</a:t>
            </a:r>
            <a:br/>
            <a:r>
              <a:t>weather</a:t>
            </a:r>
            <a:br/>
            <a:r>
              <a:t>github</a:t>
            </a:r>
            <a:br/>
            <a:r>
              <a:t>device-build-debug（高亮）</a:t>
            </a:r>
            <a:br/>
            <a:r>
              <a:t>pptx</a:t>
            </a:r>
            <a:br/>
            <a:br/>
            <a:r>
              <a:t>（抽屉柜示意）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2286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SF Pro Display"/>
              </a:defRPr>
            </a:pPr>
            <a:r>
              <a:t>SKILL.md</a:t>
            </a:r>
            <a:br/>
            <a:r>
              <a:t>1. SSH login remote</a:t>
            </a:r>
            <a:br/>
            <a:r>
              <a:t>2. Compile via make</a:t>
            </a:r>
            <a:br/>
            <a:r>
              <a:t>3. rsync firmware</a:t>
            </a:r>
            <a:br/>
            <a:r>
              <a:t>4. adb push &amp; verify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56032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SF Pro Display"/>
              </a:defRPr>
            </a:pPr>
            <a:r>
              <a:t>Read  -&gt;  Follow  -&gt;  Execute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0" y="18288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60A5FA"/>
                </a:solidFill>
                <a:latin typeface="SF Pro Display"/>
              </a:defRPr>
            </a:pPr>
            <a:r>
              <a:t>skillsSnapshot</a:t>
            </a:r>
            <a:br/>
            <a:r>
              <a:t>父传子</a:t>
            </a:r>
            <a:br/>
            <a:r>
              <a:t>跳过扫描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4572000"/>
            <a:ext cx="2743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F59E0B"/>
                </a:solidFill>
                <a:latin typeface="SF Pro Display"/>
              </a:defRPr>
            </a:pPr>
            <a:r>
              <a:t>6 级来源优先级</a:t>
            </a:r>
            <a:br/>
            <a:r>
              <a:t>workspace/skills（最高）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600" b="0">
                <a:solidFill>
                  <a:srgbClr val="FFFFFF"/>
                </a:solidFill>
                <a:latin typeface="SF Pro Display"/>
              </a:defRPr>
            </a:pPr>
            <a:r>
              <a:t>Memory — 可替换的记忆后端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A1A1A6"/>
                </a:solidFill>
                <a:latin typeface="SF Pro Display"/>
              </a:defRPr>
            </a:pPr>
            <a:r>
              <a:t>registerMemoryCapability()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743200"/>
            <a:ext cx="2743200" cy="2011680"/>
          </a:xfrm>
          <a:prstGeom prst="roundRect">
            <a:avLst/>
          </a:prstGeom>
          <a:solidFill>
            <a:srgbClr val="0F0A14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A78BFA"/>
                </a:solidFill>
              </a:defRPr>
            </a:pPr>
            <a:r>
              <a:t>Memory Plugin Slot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0" y="237744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60A5FA"/>
                </a:solidFill>
                <a:latin typeface="SF Pro Display"/>
              </a:defRPr>
            </a:pPr>
            <a:r>
              <a:t>落盘</a:t>
            </a:r>
            <a:br/>
            <a:r>
              <a:t>Files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3474720"/>
            <a:ext cx="2011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59E0B"/>
                </a:solidFill>
                <a:latin typeface="SF Pro Display"/>
              </a:defRPr>
            </a:pPr>
            <a:r>
              <a:t>分块</a:t>
            </a:r>
            <a:br/>
            <a:r>
              <a:t>chunk · hash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4572000"/>
            <a:ext cx="1645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A78BFA"/>
                </a:solidFill>
                <a:latin typeface="SF Pro Display"/>
              </a:defRPr>
            </a:pPr>
            <a:r>
              <a:t>检索</a:t>
            </a:r>
            <a:br/>
            <a:r>
              <a:t>Vector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200400"/>
            <a:ext cx="22860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SF Pro Display"/>
              </a:defRPr>
            </a:pPr>
            <a:r>
              <a:t>(  search  )</a:t>
            </a:r>
            <a:br/>
            <a:r>
              <a:t>大眼睛示意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943600"/>
            <a:ext cx="1645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  <a:latin typeface="SF Pro Display"/>
              </a:defRPr>
            </a:pPr>
            <a:r>
              <a:t>builtin 向量索引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59436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A78BFA"/>
                </a:solidFill>
                <a:latin typeface="SF Pro Display"/>
              </a:defRPr>
            </a:pPr>
            <a:r>
              <a:t>qmd 外部后端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0">
                <a:solidFill>
                  <a:srgbClr val="FFFFFF"/>
                </a:solidFill>
                <a:latin typeface="SF Pro Display"/>
              </a:defRPr>
            </a:pPr>
            <a:r>
              <a:t>效率与主动性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0">
                <a:solidFill>
                  <a:srgbClr val="A1A1A6"/>
                </a:solidFill>
                <a:latin typeface="SF Pro Display"/>
              </a:defRPr>
            </a:pPr>
            <a:r>
              <a:t>框架在后台默默做的三件事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2011680"/>
            <a:ext cx="2286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F59E0B"/>
                </a:solidFill>
                <a:latin typeface="SF Pro Display"/>
              </a:defRPr>
            </a:pPr>
            <a:r>
              <a:t>Auto-Compaction</a:t>
            </a:r>
            <a:br/>
            <a:r>
              <a:t>80 轮 -&gt; 3 条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0" y="45720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60A5FA"/>
                </a:solidFill>
                <a:latin typeface="SF Pro Display"/>
              </a:defRPr>
            </a:pPr>
            <a:r>
              <a:t>Snapshot</a:t>
            </a:r>
            <a:br/>
            <a:r>
              <a:t>子代理秒启动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720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34D399"/>
                </a:solidFill>
                <a:latin typeface="SF Pro Display"/>
              </a:defRPr>
            </a:pPr>
            <a:r>
              <a:t>Heartbeat</a:t>
            </a:r>
            <a:br/>
            <a:r>
              <a:t>30 分钟自动巡检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3931920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0">
                <a:solidFill>
                  <a:srgbClr val="555555"/>
                </a:solidFill>
                <a:latin typeface="SF Pro Display"/>
              </a:defRPr>
            </a:pPr>
            <a:r>
              <a:t>Invisible to user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9144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 b="0">
                <a:solidFill>
                  <a:srgbClr val="FFFFFF"/>
                </a:solidFill>
                <a:latin typeface="SF Pro Display"/>
              </a:defRPr>
            </a:pPr>
            <a:r>
              <a:t>P100-recordpen 编译 + 烧录 + 调试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A1A1A6"/>
                </a:solidFill>
                <a:latin typeface="SF Pro Display"/>
              </a:defRPr>
            </a:pPr>
            <a:r>
              <a:t>一个请求激活四个子系统</a:t>
            </a:r>
          </a:p>
        </p:txBody>
      </p:sp>
      <p:sp>
        <p:nvSpPr>
          <p:cNvPr id="4" name="Oval 3"/>
          <p:cNvSpPr/>
          <p:nvPr/>
        </p:nvSpPr>
        <p:spPr>
          <a:xfrm>
            <a:off x="5029200" y="2377440"/>
            <a:ext cx="2194560" cy="2194560"/>
          </a:xfrm>
          <a:prstGeom prst="ellipse">
            <a:avLst/>
          </a:prstGeom>
          <a:solidFill>
            <a:srgbClr val="0A0A0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帮我编译并</a:t>
            </a:r>
            <a:br/>
            <a:r>
              <a:t>烧录到设备上</a:t>
            </a:r>
            <a:br/>
            <a:r>
              <a:t>调试固件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6459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60A5FA"/>
                </a:solidFill>
                <a:latin typeface="SF Pro Display"/>
              </a:defRPr>
            </a:pPr>
            <a:r>
              <a:t>1. Bootstrap</a:t>
            </a:r>
            <a:br/>
            <a:r>
              <a:t>加载 5 个核心 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4592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F59E0B"/>
                </a:solidFill>
                <a:latin typeface="SF Pro Display"/>
              </a:defRPr>
            </a:pPr>
            <a:r>
              <a:t>2. Skills</a:t>
            </a:r>
            <a:br/>
            <a:r>
              <a:t>命中 device-build-debug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20116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A78BFA"/>
                </a:solidFill>
                <a:latin typeface="SF Pro Display"/>
              </a:defRPr>
            </a:pPr>
            <a:r>
              <a:t>3. Memory</a:t>
            </a:r>
            <a:br/>
            <a:r>
              <a:t>检索 IP / 编译参数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4572000"/>
            <a:ext cx="21945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500" b="0">
                <a:solidFill>
                  <a:srgbClr val="34D399"/>
                </a:solidFill>
                <a:latin typeface="SF Pro Display"/>
              </a:defRPr>
            </a:pPr>
            <a:r>
              <a:t>4. System Prompt</a:t>
            </a:r>
            <a:br/>
            <a:r>
              <a:t>拼 SSH +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5669280"/>
            <a:ext cx="4114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C8C8C8"/>
                </a:solidFill>
                <a:latin typeface="SF Pro Display"/>
              </a:defRPr>
            </a:pPr>
            <a:r>
              <a:t>SSH (Compile)  -&gt;  rsync (Flash)  -&gt;  adb (Debug)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937760"/>
            <a:ext cx="3200400" cy="731520"/>
          </a:xfrm>
          <a:prstGeom prst="rect">
            <a:avLst/>
          </a:prstGeom>
          <a:solidFill>
            <a:srgbClr val="141419"/>
          </a:solidFill>
          <a:ln>
            <a:solidFill>
              <a:srgbClr val="323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1400">
                <a:solidFill>
                  <a:srgbClr val="C8C8D2"/>
                </a:solidFill>
                <a:latin typeface="SF Mono"/>
              </a:defRPr>
            </a:pPr>
            <a:r>
              <a:t>device-build-debug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54880" y="146304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0" b="0">
                <a:solidFill>
                  <a:srgbClr val="000000"/>
                </a:solidFill>
                <a:latin typeface="SF Pro Display"/>
              </a:defRPr>
            </a:pPr>
            <a:r>
              <a:t>Inject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560320"/>
            <a:ext cx="3108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0" b="0">
                <a:solidFill>
                  <a:srgbClr val="000000"/>
                </a:solidFill>
                <a:latin typeface="SF Pro Display"/>
              </a:defRPr>
            </a:pPr>
            <a:r>
              <a:t>Assemble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365760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0" b="0">
                <a:solidFill>
                  <a:srgbClr val="000000"/>
                </a:solidFill>
                <a:latin typeface="SF Pro Display"/>
              </a:defRPr>
            </a:pPr>
            <a:r>
              <a:t>Extend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4754880"/>
            <a:ext cx="2743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0" b="0">
                <a:solidFill>
                  <a:srgbClr val="000000"/>
                </a:solidFill>
                <a:latin typeface="SF Pro Display"/>
              </a:defRPr>
            </a:pPr>
            <a:r>
              <a:t>Persist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62179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0">
                <a:solidFill>
                  <a:srgbClr val="888888"/>
                </a:solidFill>
                <a:latin typeface="SF Pro Display"/>
              </a:defRPr>
            </a:pPr>
            <a:r>
              <a:t>Engineering, not magic.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